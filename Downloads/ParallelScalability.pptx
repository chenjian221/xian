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6" r:id="rId11"/>
    <p:sldId id="267" r:id="rId12"/>
    <p:sldId id="280" r:id="rId13"/>
    <p:sldId id="281" r:id="rId14"/>
    <p:sldId id="268" r:id="rId15"/>
    <p:sldId id="269" r:id="rId16"/>
    <p:sldId id="265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2" r:id="rId28"/>
    <p:sldId id="283" r:id="rId29"/>
    <p:sldId id="284" r:id="rId30"/>
    <p:sldId id="285" r:id="rId31"/>
    <p:sldId id="287" r:id="rId32"/>
    <p:sldId id="288" r:id="rId33"/>
    <p:sldId id="289" r:id="rId34"/>
    <p:sldId id="286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3" r:id="rId48"/>
    <p:sldId id="302" r:id="rId49"/>
    <p:sldId id="304" r:id="rId50"/>
    <p:sldId id="305" r:id="rId5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-1576" y="-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printerSettings" Target="printerSettings/printerSettings1.bin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13E39-8F39-AB44-AEC3-27DC3D8FCF4B}" type="datetimeFigureOut">
              <a:rPr lang="en-US" smtClean="0"/>
              <a:t>10/23/12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D7E60-BF52-464D-93FD-768BBA8B6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887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13E39-8F39-AB44-AEC3-27DC3D8FCF4B}" type="datetimeFigureOut">
              <a:rPr lang="en-US" smtClean="0"/>
              <a:t>10/23/12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D7E60-BF52-464D-93FD-768BBA8B6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6697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13E39-8F39-AB44-AEC3-27DC3D8FCF4B}" type="datetimeFigureOut">
              <a:rPr lang="en-US" smtClean="0"/>
              <a:t>10/23/12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D7E60-BF52-464D-93FD-768BBA8B6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895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13E39-8F39-AB44-AEC3-27DC3D8FCF4B}" type="datetimeFigureOut">
              <a:rPr lang="en-US" smtClean="0"/>
              <a:t>10/23/12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D7E60-BF52-464D-93FD-768BBA8B6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833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13E39-8F39-AB44-AEC3-27DC3D8FCF4B}" type="datetimeFigureOut">
              <a:rPr lang="en-US" smtClean="0"/>
              <a:t>10/23/12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D7E60-BF52-464D-93FD-768BBA8B6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464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13E39-8F39-AB44-AEC3-27DC3D8FCF4B}" type="datetimeFigureOut">
              <a:rPr lang="en-US" smtClean="0"/>
              <a:t>10/23/12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D7E60-BF52-464D-93FD-768BBA8B6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431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13E39-8F39-AB44-AEC3-27DC3D8FCF4B}" type="datetimeFigureOut">
              <a:rPr lang="en-US" smtClean="0"/>
              <a:t>10/23/12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D7E60-BF52-464D-93FD-768BBA8B6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741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13E39-8F39-AB44-AEC3-27DC3D8FCF4B}" type="datetimeFigureOut">
              <a:rPr lang="en-US" smtClean="0"/>
              <a:t>10/23/12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D7E60-BF52-464D-93FD-768BBA8B6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920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13E39-8F39-AB44-AEC3-27DC3D8FCF4B}" type="datetimeFigureOut">
              <a:rPr lang="en-US" smtClean="0"/>
              <a:t>10/23/12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D7E60-BF52-464D-93FD-768BBA8B6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2382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13E39-8F39-AB44-AEC3-27DC3D8FCF4B}" type="datetimeFigureOut">
              <a:rPr lang="en-US" smtClean="0"/>
              <a:t>10/23/12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D7E60-BF52-464D-93FD-768BBA8B6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6401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13E39-8F39-AB44-AEC3-27DC3D8FCF4B}" type="datetimeFigureOut">
              <a:rPr lang="en-US" smtClean="0"/>
              <a:t>10/23/12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D7E60-BF52-464D-93FD-768BBA8B6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1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713E39-8F39-AB44-AEC3-27DC3D8FCF4B}" type="datetimeFigureOut">
              <a:rPr lang="en-US" smtClean="0"/>
              <a:t>10/23/12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ED7E60-BF52-464D-93FD-768BBA8B6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069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6.png"/><Relationship Id="rId6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45.png"/><Relationship Id="rId7" Type="http://schemas.openxmlformats.org/officeDocument/2006/relationships/image" Target="../media/image46.png"/><Relationship Id="rId8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4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8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1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4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6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4" Type="http://schemas.openxmlformats.org/officeDocument/2006/relationships/image" Target="../media/image62.png"/><Relationship Id="rId5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4" Type="http://schemas.openxmlformats.org/officeDocument/2006/relationships/image" Target="../media/image66.png"/><Relationship Id="rId5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4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4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4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2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5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6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6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7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8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9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0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1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Parallel Scalability	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CS 420 Fall 2012</a:t>
            </a:r>
          </a:p>
          <a:p>
            <a:r>
              <a:rPr lang="en-US" dirty="0" smtClean="0"/>
              <a:t>Osman </a:t>
            </a:r>
            <a:r>
              <a:rPr lang="en-US" dirty="0" err="1" smtClean="0"/>
              <a:t>Sarood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495865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faster can we run?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010" y="3870752"/>
            <a:ext cx="7061200" cy="647700"/>
          </a:xfrm>
          <a:prstGeom prst="rect">
            <a:avLst/>
          </a:prstGeom>
        </p:spPr>
      </p:pic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1561314"/>
          </a:xfrm>
        </p:spPr>
        <p:txBody>
          <a:bodyPr>
            <a:normAutofit/>
          </a:bodyPr>
          <a:lstStyle/>
          <a:p>
            <a:r>
              <a:rPr lang="en-US" dirty="0" smtClean="0"/>
              <a:t>Suppose we have this serial problem with 12 tasks. How fast can we run given 3 processors?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1905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Running in parallel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376" y="1910337"/>
            <a:ext cx="7061200" cy="6477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6400" y="3088912"/>
            <a:ext cx="3238500" cy="1701800"/>
          </a:xfrm>
          <a:prstGeom prst="rect">
            <a:avLst/>
          </a:prstGeom>
        </p:spPr>
      </p:pic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705688" y="4823468"/>
            <a:ext cx="8229600" cy="1251177"/>
          </a:xfrm>
        </p:spPr>
        <p:txBody>
          <a:bodyPr>
            <a:normAutofit/>
          </a:bodyPr>
          <a:lstStyle/>
          <a:p>
            <a:r>
              <a:rPr lang="en-US" dirty="0" smtClean="0"/>
              <a:t>Execution time reduces from 12 </a:t>
            </a:r>
            <a:r>
              <a:rPr lang="en-US" dirty="0" err="1" smtClean="0"/>
              <a:t>secs</a:t>
            </a:r>
            <a:r>
              <a:rPr lang="en-US" dirty="0" smtClean="0"/>
              <a:t> to 4 </a:t>
            </a:r>
            <a:r>
              <a:rPr lang="en-US" dirty="0" err="1" smtClean="0"/>
              <a:t>secs</a:t>
            </a:r>
            <a:r>
              <a:rPr lang="en-US" dirty="0" smtClean="0"/>
              <a:t>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827535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Load imbalance	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5818" y="1606550"/>
            <a:ext cx="3670300" cy="1816100"/>
          </a:xfrm>
          <a:prstGeom prst="rect">
            <a:avLst/>
          </a:prstGeom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705688" y="3768966"/>
            <a:ext cx="8229600" cy="2305679"/>
          </a:xfrm>
        </p:spPr>
        <p:txBody>
          <a:bodyPr>
            <a:normAutofit/>
          </a:bodyPr>
          <a:lstStyle/>
          <a:p>
            <a:r>
              <a:rPr lang="en-US" dirty="0" smtClean="0"/>
              <a:t>What if all processors can’t execute tasks with the same speed?</a:t>
            </a:r>
          </a:p>
          <a:p>
            <a:pPr lvl="1"/>
            <a:r>
              <a:rPr lang="en-US" dirty="0" smtClean="0"/>
              <a:t>Load imbalance (ending parts for W2 and W3)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098749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Dependence amongst tasks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4266" y="1674662"/>
            <a:ext cx="4902200" cy="1879600"/>
          </a:xfrm>
          <a:prstGeom prst="rect">
            <a:avLst/>
          </a:prstGeom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705688" y="3768966"/>
            <a:ext cx="8229600" cy="2305679"/>
          </a:xfrm>
        </p:spPr>
        <p:txBody>
          <a:bodyPr>
            <a:normAutofit/>
          </a:bodyPr>
          <a:lstStyle/>
          <a:p>
            <a:r>
              <a:rPr lang="en-US" dirty="0" smtClean="0"/>
              <a:t>What if tasks 3, 7 and 11 are dependent?	</a:t>
            </a:r>
          </a:p>
          <a:p>
            <a:pPr lvl="1"/>
            <a:r>
              <a:rPr lang="en-US" dirty="0" smtClean="0"/>
              <a:t>Execution time increases from 4 to 6!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625781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Scalability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How much faster can a given problem be solved with N workers instead of one?</a:t>
            </a:r>
          </a:p>
          <a:p>
            <a:r>
              <a:rPr lang="en-US" dirty="0" smtClean="0"/>
              <a:t>How much more work can be done with N workers instead of one?</a:t>
            </a:r>
          </a:p>
          <a:p>
            <a:r>
              <a:rPr lang="en-US" dirty="0" smtClean="0"/>
              <a:t>What impact for the communication requirements of the parallel application have on performance?</a:t>
            </a:r>
          </a:p>
          <a:p>
            <a:r>
              <a:rPr lang="en-US" dirty="0" smtClean="0"/>
              <a:t>What fraction of the resources is actually used productively for solving the problem?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075677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Scalability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Simple model</a:t>
            </a:r>
          </a:p>
          <a:p>
            <a:endParaRPr lang="en-US" dirty="0"/>
          </a:p>
          <a:p>
            <a:pPr marL="457200" lvl="1" indent="0">
              <a:buNone/>
            </a:pPr>
            <a:r>
              <a:rPr lang="en-US" dirty="0"/>
              <a:t>s</a:t>
            </a:r>
            <a:r>
              <a:rPr lang="en-US" dirty="0" smtClean="0"/>
              <a:t>: is the serial part      p: is the parallel part</a:t>
            </a:r>
          </a:p>
          <a:p>
            <a:r>
              <a:rPr lang="en-US" dirty="0" smtClean="0"/>
              <a:t>Why serial part?</a:t>
            </a:r>
          </a:p>
          <a:p>
            <a:pPr lvl="1"/>
            <a:r>
              <a:rPr lang="en-US" dirty="0" smtClean="0"/>
              <a:t>Algorithm limitations: dependencies</a:t>
            </a:r>
          </a:p>
          <a:p>
            <a:pPr lvl="1"/>
            <a:r>
              <a:rPr lang="en-US" dirty="0" smtClean="0"/>
              <a:t>Bottlenecks: shared resources</a:t>
            </a:r>
          </a:p>
          <a:p>
            <a:pPr lvl="1"/>
            <a:r>
              <a:rPr lang="en-US" dirty="0" smtClean="0"/>
              <a:t>Startup overhead: starting a parallel program</a:t>
            </a:r>
          </a:p>
          <a:p>
            <a:pPr lvl="1"/>
            <a:r>
              <a:rPr lang="en-US" dirty="0" smtClean="0"/>
              <a:t>Communication: interacting with others workers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8550" y="2265464"/>
            <a:ext cx="1562354" cy="385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09707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Scaling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Strong Scaling</a:t>
            </a:r>
            <a:r>
              <a:rPr lang="en-US" dirty="0" smtClean="0"/>
              <a:t>: Keeping the problem size fixed and pushing in more workers or processors</a:t>
            </a:r>
          </a:p>
          <a:p>
            <a:pPr lvl="1"/>
            <a:r>
              <a:rPr lang="en-US" dirty="0" smtClean="0"/>
              <a:t>Goal: Minimize time to solution for a given problem</a:t>
            </a:r>
          </a:p>
          <a:p>
            <a:r>
              <a:rPr lang="en-US" dirty="0" smtClean="0">
                <a:solidFill>
                  <a:srgbClr val="008000"/>
                </a:solidFill>
              </a:rPr>
              <a:t>Weak Scaling</a:t>
            </a:r>
            <a:r>
              <a:rPr lang="en-US" dirty="0" smtClean="0"/>
              <a:t>: Keeping the work per worker fixed and adding more workers/processors (the overall problem size increases)</a:t>
            </a:r>
          </a:p>
          <a:p>
            <a:pPr lvl="1"/>
            <a:r>
              <a:rPr lang="en-US" dirty="0" smtClean="0"/>
              <a:t>Goal: solve the larger problems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57405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Strong Scaling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Work done </a:t>
            </a:r>
          </a:p>
          <a:p>
            <a:r>
              <a:rPr lang="en-US" dirty="0" smtClean="0"/>
              <a:t>Single worker runtime:</a:t>
            </a:r>
          </a:p>
          <a:p>
            <a:endParaRPr lang="en-US" dirty="0"/>
          </a:p>
          <a:p>
            <a:r>
              <a:rPr lang="en-US" dirty="0" smtClean="0"/>
              <a:t>Same problem in parallel on N workers takes: 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0361" y="2831467"/>
            <a:ext cx="1422400" cy="4191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0361" y="3871921"/>
            <a:ext cx="1511300" cy="6477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3852" y="1733675"/>
            <a:ext cx="647700" cy="3683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1346" y="2886691"/>
            <a:ext cx="4953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49875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Weak Scaling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Work done </a:t>
            </a:r>
          </a:p>
          <a:p>
            <a:r>
              <a:rPr lang="en-US" dirty="0" smtClean="0"/>
              <a:t>Single worker runtime:</a:t>
            </a:r>
          </a:p>
          <a:p>
            <a:endParaRPr lang="en-US" dirty="0"/>
          </a:p>
          <a:p>
            <a:r>
              <a:rPr lang="en-US" dirty="0" smtClean="0"/>
              <a:t>Same problem in parallel on N workers takes: 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4500" y="1655424"/>
            <a:ext cx="1054100" cy="431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4166" y="2786544"/>
            <a:ext cx="1676400" cy="6223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7900" y="3993962"/>
            <a:ext cx="2108200" cy="59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78092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Performance: Strong Scaling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Performance = work / time</a:t>
            </a:r>
          </a:p>
          <a:p>
            <a:r>
              <a:rPr lang="en-US" dirty="0" smtClean="0"/>
              <a:t>Strong scaling:</a:t>
            </a:r>
          </a:p>
          <a:p>
            <a:pPr lvl="1"/>
            <a:r>
              <a:rPr lang="en-US" dirty="0" smtClean="0"/>
              <a:t>Serial performance:</a:t>
            </a:r>
          </a:p>
          <a:p>
            <a:pPr lvl="1"/>
            <a:endParaRPr lang="en-US" dirty="0"/>
          </a:p>
          <a:p>
            <a:pPr lvl="1"/>
            <a:r>
              <a:rPr lang="en-US" dirty="0" smtClean="0"/>
              <a:t>Parallel performance: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Speedup: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7905" y="3200967"/>
            <a:ext cx="1943100" cy="7874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6138" y="4009443"/>
            <a:ext cx="2908300" cy="9525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9988" y="5110163"/>
            <a:ext cx="2400300" cy="1016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225996" y="4100302"/>
            <a:ext cx="988442" cy="913219"/>
          </a:xfrm>
          <a:prstGeom prst="rect">
            <a:avLst/>
          </a:prstGeom>
          <a:solidFill>
            <a:srgbClr val="008000">
              <a:alpha val="14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4758041" y="5212944"/>
            <a:ext cx="988442" cy="913219"/>
          </a:xfrm>
          <a:prstGeom prst="rect">
            <a:avLst/>
          </a:prstGeom>
          <a:solidFill>
            <a:srgbClr val="008000">
              <a:alpha val="14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6225996" y="5212944"/>
            <a:ext cx="24608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008000"/>
                </a:solidFill>
              </a:rPr>
              <a:t>The same!</a:t>
            </a:r>
            <a:endParaRPr lang="en-US" sz="2400" dirty="0">
              <a:solidFill>
                <a:srgbClr val="008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477202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Example: Strong Scaling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8000"/>
                </a:solidFill>
              </a:rPr>
              <a:t>s</a:t>
            </a:r>
            <a:r>
              <a:rPr lang="en-US" dirty="0" smtClean="0">
                <a:solidFill>
                  <a:srgbClr val="008000"/>
                </a:solidFill>
              </a:rPr>
              <a:t>: 0.1, p: 0.9, N: 1000 </a:t>
            </a:r>
            <a:r>
              <a:rPr lang="en-US" dirty="0" smtClean="0"/>
              <a:t>|</a:t>
            </a:r>
            <a:r>
              <a:rPr lang="en-US" dirty="0" smtClean="0">
                <a:solidFill>
                  <a:srgbClr val="008000"/>
                </a:solidFill>
              </a:rPr>
              <a:t> </a:t>
            </a:r>
            <a:r>
              <a:rPr lang="en-US" dirty="0" smtClean="0">
                <a:solidFill>
                  <a:srgbClr val="FF0000"/>
                </a:solidFill>
              </a:rPr>
              <a:t>s: 0.9, p: 0.1, N: 1000</a:t>
            </a:r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 smtClean="0"/>
              <a:t>Strong scaling:</a:t>
            </a:r>
          </a:p>
          <a:p>
            <a:pPr lvl="1"/>
            <a:r>
              <a:rPr lang="en-US" dirty="0" smtClean="0"/>
              <a:t>Serial performance:</a:t>
            </a:r>
          </a:p>
          <a:p>
            <a:pPr lvl="1"/>
            <a:r>
              <a:rPr lang="en-US" dirty="0" smtClean="0"/>
              <a:t>                                                                </a:t>
            </a:r>
            <a:r>
              <a:rPr lang="en-US" dirty="0" smtClean="0">
                <a:solidFill>
                  <a:srgbClr val="008000"/>
                </a:solidFill>
              </a:rPr>
              <a:t>1 </a:t>
            </a:r>
            <a:r>
              <a:rPr lang="en-US" dirty="0" smtClean="0"/>
              <a:t>|</a:t>
            </a:r>
            <a:r>
              <a:rPr lang="en-US" dirty="0" smtClean="0">
                <a:solidFill>
                  <a:srgbClr val="008000"/>
                </a:solidFill>
              </a:rPr>
              <a:t> </a:t>
            </a:r>
            <a:r>
              <a:rPr lang="en-US" dirty="0" smtClean="0">
                <a:solidFill>
                  <a:srgbClr val="FF0000"/>
                </a:solidFill>
              </a:rPr>
              <a:t>1</a:t>
            </a:r>
            <a:endParaRPr lang="en-US" dirty="0">
              <a:solidFill>
                <a:srgbClr val="FF0000"/>
              </a:solidFill>
            </a:endParaRP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Parallel performance and speedup:</a:t>
            </a:r>
          </a:p>
          <a:p>
            <a:pPr marL="457200" lvl="1" indent="0">
              <a:buNone/>
            </a:pPr>
            <a:r>
              <a:rPr lang="en-US" dirty="0" smtClean="0"/>
              <a:t>                                                            </a:t>
            </a:r>
            <a:r>
              <a:rPr lang="en-US" dirty="0" smtClean="0">
                <a:solidFill>
                  <a:srgbClr val="008000"/>
                </a:solidFill>
              </a:rPr>
              <a:t>9.91 </a:t>
            </a:r>
            <a:r>
              <a:rPr lang="en-US" dirty="0" smtClean="0">
                <a:solidFill>
                  <a:srgbClr val="000000"/>
                </a:solidFill>
              </a:rPr>
              <a:t>|</a:t>
            </a:r>
            <a:r>
              <a:rPr lang="en-US" dirty="0" smtClean="0">
                <a:solidFill>
                  <a:srgbClr val="008000"/>
                </a:solidFill>
              </a:rPr>
              <a:t> </a:t>
            </a:r>
            <a:r>
              <a:rPr lang="en-US" dirty="0" smtClean="0">
                <a:solidFill>
                  <a:srgbClr val="FF0000"/>
                </a:solidFill>
              </a:rPr>
              <a:t>1.11</a:t>
            </a:r>
            <a:endParaRPr lang="en-US" dirty="0">
              <a:solidFill>
                <a:srgbClr val="FF0000"/>
              </a:solidFill>
            </a:endParaRPr>
          </a:p>
          <a:p>
            <a:pPr lvl="1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7905" y="3200967"/>
            <a:ext cx="1943100" cy="7874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5164" y="4789425"/>
            <a:ext cx="2908300" cy="9525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1697" y="3422650"/>
            <a:ext cx="622300" cy="3937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0497" y="4885553"/>
            <a:ext cx="673100" cy="46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08043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Strong Scaling changing “work”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Work: p ( only the parallelizable part)</a:t>
            </a:r>
          </a:p>
          <a:p>
            <a:r>
              <a:rPr lang="en-US" dirty="0" smtClean="0"/>
              <a:t>Strong scaling:</a:t>
            </a:r>
          </a:p>
          <a:p>
            <a:pPr lvl="1"/>
            <a:r>
              <a:rPr lang="en-US" dirty="0" smtClean="0"/>
              <a:t>Serial performance:</a:t>
            </a:r>
          </a:p>
          <a:p>
            <a:pPr marL="457200" lvl="1" indent="0">
              <a:buNone/>
            </a:pPr>
            <a:r>
              <a:rPr lang="en-US" dirty="0"/>
              <a:t>	</a:t>
            </a:r>
            <a:r>
              <a:rPr lang="en-US" dirty="0" smtClean="0"/>
              <a:t>								since</a:t>
            </a:r>
            <a:endParaRPr lang="en-US" dirty="0" smtClean="0"/>
          </a:p>
          <a:p>
            <a:pPr lvl="1"/>
            <a:r>
              <a:rPr lang="en-US" dirty="0" smtClean="0"/>
              <a:t>Parallel performance: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Speedup:</a:t>
            </a:r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3060" y="3173357"/>
            <a:ext cx="1739900" cy="7747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7139" y="4225911"/>
            <a:ext cx="3022600" cy="8509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7173" y="5270091"/>
            <a:ext cx="2463800" cy="1016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798037" y="4171255"/>
            <a:ext cx="988442" cy="913219"/>
          </a:xfrm>
          <a:prstGeom prst="rect">
            <a:avLst/>
          </a:prstGeom>
          <a:solidFill>
            <a:srgbClr val="008000">
              <a:alpha val="14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075552" y="5297703"/>
            <a:ext cx="988442" cy="913219"/>
          </a:xfrm>
          <a:prstGeom prst="rect">
            <a:avLst/>
          </a:prstGeom>
          <a:solidFill>
            <a:srgbClr val="008000">
              <a:alpha val="14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6225996" y="5212944"/>
            <a:ext cx="27333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008000"/>
                </a:solidFill>
              </a:rPr>
              <a:t>Differ by factor of ‘p’</a:t>
            </a:r>
          </a:p>
          <a:p>
            <a:r>
              <a:rPr lang="en-US" sz="2000" dirty="0" smtClean="0">
                <a:solidFill>
                  <a:srgbClr val="008000"/>
                </a:solidFill>
              </a:rPr>
              <a:t>But speedup is the same</a:t>
            </a:r>
            <a:endParaRPr lang="en-US" sz="2000" dirty="0">
              <a:solidFill>
                <a:srgbClr val="008000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5279" y="3347209"/>
            <a:ext cx="1422400" cy="4191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6264" y="3388627"/>
            <a:ext cx="4953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6032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Example: Strong Scaling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rgbClr val="008000"/>
                </a:solidFill>
              </a:rPr>
              <a:t>s: 0.1, p: 0.9, N: 1000 </a:t>
            </a:r>
            <a:r>
              <a:rPr lang="en-US" dirty="0" smtClean="0"/>
              <a:t>|</a:t>
            </a:r>
            <a:r>
              <a:rPr lang="en-US" dirty="0" smtClean="0">
                <a:solidFill>
                  <a:srgbClr val="008000"/>
                </a:solidFill>
              </a:rPr>
              <a:t> </a:t>
            </a:r>
            <a:r>
              <a:rPr lang="en-US" dirty="0" smtClean="0">
                <a:solidFill>
                  <a:srgbClr val="FF0000"/>
                </a:solidFill>
              </a:rPr>
              <a:t>s: 0.9, p: 0.1, N: 1000</a:t>
            </a:r>
          </a:p>
          <a:p>
            <a:r>
              <a:rPr lang="en-US" dirty="0" smtClean="0"/>
              <a:t>Strong scaling:</a:t>
            </a:r>
          </a:p>
          <a:p>
            <a:pPr lvl="1"/>
            <a:r>
              <a:rPr lang="en-US" dirty="0" smtClean="0"/>
              <a:t>Serial performance:</a:t>
            </a:r>
          </a:p>
          <a:p>
            <a:pPr marL="457200" lvl="1" indent="0">
              <a:buNone/>
            </a:pPr>
            <a:r>
              <a:rPr lang="en-US" dirty="0"/>
              <a:t>	</a:t>
            </a:r>
            <a:r>
              <a:rPr lang="en-US" dirty="0" smtClean="0"/>
              <a:t>						                        </a:t>
            </a:r>
            <a:r>
              <a:rPr lang="en-US" dirty="0" smtClean="0">
                <a:solidFill>
                  <a:srgbClr val="008000"/>
                </a:solidFill>
              </a:rPr>
              <a:t>0.9</a:t>
            </a:r>
            <a:r>
              <a:rPr lang="en-US" dirty="0" smtClean="0"/>
              <a:t>  | </a:t>
            </a:r>
            <a:r>
              <a:rPr lang="en-US" dirty="0" smtClean="0">
                <a:solidFill>
                  <a:srgbClr val="FF0000"/>
                </a:solidFill>
              </a:rPr>
              <a:t>0.1</a:t>
            </a:r>
            <a:r>
              <a:rPr lang="en-US" dirty="0" smtClean="0"/>
              <a:t>     		</a:t>
            </a:r>
            <a:endParaRPr lang="en-US" dirty="0" smtClean="0"/>
          </a:p>
          <a:p>
            <a:pPr lvl="1"/>
            <a:r>
              <a:rPr lang="en-US" dirty="0" smtClean="0"/>
              <a:t>Parallel performance:</a:t>
            </a:r>
          </a:p>
          <a:p>
            <a:pPr marL="457200" lvl="1" indent="0">
              <a:buNone/>
            </a:pPr>
            <a:r>
              <a:rPr lang="en-US" dirty="0" smtClean="0"/>
              <a:t>          										             </a:t>
            </a:r>
            <a:r>
              <a:rPr lang="en-US" dirty="0" smtClean="0">
                <a:solidFill>
                  <a:srgbClr val="008000"/>
                </a:solidFill>
              </a:rPr>
              <a:t>8.9</a:t>
            </a:r>
            <a:r>
              <a:rPr lang="en-US" dirty="0" smtClean="0"/>
              <a:t> | </a:t>
            </a:r>
            <a:r>
              <a:rPr lang="en-US" dirty="0" smtClean="0">
                <a:solidFill>
                  <a:srgbClr val="FF0000"/>
                </a:solidFill>
              </a:rPr>
              <a:t>0.11</a:t>
            </a:r>
          </a:p>
          <a:p>
            <a:pPr lvl="1"/>
            <a:r>
              <a:rPr lang="en-US" dirty="0" smtClean="0"/>
              <a:t>Speedup:</a:t>
            </a:r>
            <a:endParaRPr lang="en-US" dirty="0" smtClean="0"/>
          </a:p>
          <a:p>
            <a:r>
              <a:rPr lang="en-US" dirty="0" smtClean="0"/>
              <a:t>      													</a:t>
            </a:r>
            <a:r>
              <a:rPr lang="en-US" dirty="0" smtClean="0">
                <a:solidFill>
                  <a:srgbClr val="008000"/>
                </a:solidFill>
              </a:rPr>
              <a:t>9.9</a:t>
            </a:r>
            <a:r>
              <a:rPr lang="en-US" dirty="0" smtClean="0"/>
              <a:t> | </a:t>
            </a:r>
            <a:r>
              <a:rPr lang="en-US" dirty="0" smtClean="0">
                <a:solidFill>
                  <a:srgbClr val="FF0000"/>
                </a:solidFill>
              </a:rPr>
              <a:t>1.11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3060" y="3173357"/>
            <a:ext cx="1739900" cy="7747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6535" y="4225911"/>
            <a:ext cx="3022600" cy="8509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3027" y="5270091"/>
            <a:ext cx="2463800" cy="101600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0873" y="3284342"/>
            <a:ext cx="800100" cy="4699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5045" y="4363399"/>
            <a:ext cx="825500" cy="5207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5045" y="5519764"/>
            <a:ext cx="6350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77171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Performance: Weak Scaling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 smtClean="0"/>
          </a:p>
          <a:p>
            <a:r>
              <a:rPr lang="en-US" dirty="0" smtClean="0"/>
              <a:t>Weak scaling:</a:t>
            </a:r>
          </a:p>
          <a:p>
            <a:pPr lvl="1"/>
            <a:r>
              <a:rPr lang="en-US" dirty="0" smtClean="0"/>
              <a:t>Serial performance:</a:t>
            </a:r>
          </a:p>
          <a:p>
            <a:pPr lvl="1"/>
            <a:endParaRPr lang="en-US" dirty="0"/>
          </a:p>
          <a:p>
            <a:pPr lvl="1"/>
            <a:r>
              <a:rPr lang="en-US" dirty="0" smtClean="0"/>
              <a:t>Parallel performance:</a:t>
            </a:r>
          </a:p>
          <a:p>
            <a:pPr marL="457200" lvl="1" indent="0">
              <a:buNone/>
            </a:pPr>
            <a:endParaRPr lang="en-US" dirty="0" smtClean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3192" y="3183943"/>
            <a:ext cx="1854200" cy="8255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0692" y="4440949"/>
            <a:ext cx="4699000" cy="8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74843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Gustafson’s law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case           we recover Amdahl’s law.</a:t>
            </a:r>
          </a:p>
          <a:p>
            <a:r>
              <a:rPr lang="en-US" dirty="0" smtClean="0"/>
              <a:t> For                and when N is large,</a:t>
            </a:r>
          </a:p>
          <a:p>
            <a:pPr marL="457200" lvl="1" indent="0">
              <a:buNone/>
            </a:pPr>
            <a:endParaRPr lang="en-US" dirty="0" smtClean="0"/>
          </a:p>
          <a:p>
            <a:pPr marL="457200" lvl="1" indent="0">
              <a:buNone/>
            </a:pPr>
            <a:endParaRPr lang="en-US" dirty="0"/>
          </a:p>
          <a:p>
            <a:pPr lvl="1"/>
            <a:r>
              <a:rPr lang="en-US" dirty="0" smtClean="0"/>
              <a:t>      is linear in       </a:t>
            </a:r>
          </a:p>
          <a:p>
            <a:pPr lvl="1"/>
            <a:r>
              <a:rPr lang="en-US" dirty="0" smtClean="0"/>
              <a:t>	hence, we can cross Amdahl’s law and get unlimited performance!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699" y="1785581"/>
            <a:ext cx="800100" cy="3048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2579" y="2366526"/>
            <a:ext cx="1270000" cy="3175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5054" y="2909943"/>
            <a:ext cx="4152900" cy="7493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9679" y="3874670"/>
            <a:ext cx="342900" cy="4064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3125" y="3874670"/>
            <a:ext cx="431800" cy="39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22969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Gustafson’s law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the case            </a:t>
            </a:r>
          </a:p>
          <a:p>
            <a:endParaRPr lang="en-US" dirty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Speedup is linear in 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9228" y="1786686"/>
            <a:ext cx="787400" cy="3302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9131" y="2601256"/>
            <a:ext cx="5778500" cy="48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25116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Weak Scaling changing “work”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Work: p ( only the parallelizable part)</a:t>
            </a:r>
          </a:p>
          <a:p>
            <a:r>
              <a:rPr lang="en-US" dirty="0" smtClean="0"/>
              <a:t>Weak scaling:</a:t>
            </a:r>
          </a:p>
          <a:p>
            <a:pPr lvl="1"/>
            <a:r>
              <a:rPr lang="en-US" dirty="0" smtClean="0"/>
              <a:t>Serial performance: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Parallel performance: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Speedup:</a:t>
            </a:r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7692" y="3213100"/>
            <a:ext cx="965200" cy="4191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4214" y="4246888"/>
            <a:ext cx="3962400" cy="7112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3122" y="5187604"/>
            <a:ext cx="3543300" cy="8509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742824" y="4179436"/>
            <a:ext cx="1983789" cy="913219"/>
          </a:xfrm>
          <a:prstGeom prst="rect">
            <a:avLst/>
          </a:prstGeom>
          <a:solidFill>
            <a:srgbClr val="008000">
              <a:alpha val="14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4132633" y="5212944"/>
            <a:ext cx="1983789" cy="913219"/>
          </a:xfrm>
          <a:prstGeom prst="rect">
            <a:avLst/>
          </a:prstGeom>
          <a:solidFill>
            <a:srgbClr val="008000">
              <a:alpha val="14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6217401" y="5421180"/>
            <a:ext cx="2469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008000"/>
                </a:solidFill>
              </a:rPr>
              <a:t>Differ by factor of ‘p’</a:t>
            </a:r>
            <a:endParaRPr lang="en-US" sz="2000" dirty="0">
              <a:solidFill>
                <a:srgbClr val="008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62659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1" animBg="1"/>
      <p:bldP spid="14" grpId="1" animBg="1"/>
      <p:bldP spid="15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Scalability: </a:t>
            </a:r>
            <a:r>
              <a:rPr lang="en-US" dirty="0" smtClean="0"/>
              <a:t>Weak Scaling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For          ,  </a:t>
            </a:r>
          </a:p>
          <a:p>
            <a:endParaRPr lang="en-US" dirty="0"/>
          </a:p>
          <a:p>
            <a:pPr lvl="1"/>
            <a:r>
              <a:rPr lang="en-US" dirty="0" smtClean="0"/>
              <a:t>Linear in      with a slope of 1</a:t>
            </a:r>
          </a:p>
          <a:p>
            <a:pPr lvl="1"/>
            <a:r>
              <a:rPr lang="en-US" dirty="0" smtClean="0"/>
              <a:t>Makes us believer that all is well and application scales perfectly </a:t>
            </a:r>
          </a:p>
          <a:p>
            <a:pPr lvl="1"/>
            <a:r>
              <a:rPr lang="en-US" dirty="0" smtClean="0"/>
              <a:t>Remember previously, in Gustafson’s equation, it had a slope of (1-s)&lt;1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5375" y="1771775"/>
            <a:ext cx="774700" cy="2921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0075" y="2230682"/>
            <a:ext cx="622300" cy="3683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5128" y="2230682"/>
            <a:ext cx="342900" cy="2921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9475" y="2876233"/>
            <a:ext cx="342900" cy="29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28186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Parallel Efficiency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How effectively CPU computational power can be used in a parallel program.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5300" y="2997200"/>
            <a:ext cx="5613400" cy="8636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8888" y="4463926"/>
            <a:ext cx="3238500" cy="93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29683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For          ,  (is there any significance of it?)</a:t>
            </a:r>
          </a:p>
          <a:p>
            <a:endParaRPr lang="en-US" dirty="0"/>
          </a:p>
          <a:p>
            <a:pPr lvl="1"/>
            <a:r>
              <a:rPr lang="en-US" dirty="0" smtClean="0"/>
              <a:t>As N increases,     decreases to 0</a:t>
            </a:r>
          </a:p>
          <a:p>
            <a:r>
              <a:rPr lang="en-US" dirty="0" smtClean="0"/>
              <a:t>For          , </a:t>
            </a:r>
          </a:p>
          <a:p>
            <a:endParaRPr lang="en-US" dirty="0" smtClean="0"/>
          </a:p>
          <a:p>
            <a:pPr lvl="1"/>
            <a:r>
              <a:rPr lang="en-US" dirty="0" smtClean="0"/>
              <a:t>Efficiency reaches a limit of 1-s=p. Weak scaling enables us to use at least a certain fraction of CPU power even when N is large</a:t>
            </a:r>
            <a:endParaRPr lang="en-US" dirty="0" smtClean="0"/>
          </a:p>
          <a:p>
            <a:pPr lvl="1"/>
            <a:r>
              <a:rPr lang="en-US" dirty="0" smtClean="0"/>
              <a:t>The more CPUs are used, the more CPU cycles are wasted </a:t>
            </a:r>
            <a:r>
              <a:rPr lang="en-US" i="1" dirty="0" smtClean="0"/>
              <a:t>(What do you understand by it?)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0" y="1788009"/>
            <a:ext cx="825500" cy="2667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Effect of 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4300" y="540852"/>
            <a:ext cx="813550" cy="739591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1870" y="2173804"/>
            <a:ext cx="546100" cy="3302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67970" y="2151351"/>
            <a:ext cx="2044700" cy="4191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38234" y="2669115"/>
            <a:ext cx="232526" cy="259882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99075" y="3238462"/>
            <a:ext cx="736600" cy="2540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24726" y="3666725"/>
            <a:ext cx="1663700" cy="3048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4270" y="3632684"/>
            <a:ext cx="546100" cy="33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75098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Changing “work”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If work is defined as only the parallel part ‘</a:t>
            </a:r>
            <a:r>
              <a:rPr lang="en-US" i="1" dirty="0" smtClean="0"/>
              <a:t>p’</a:t>
            </a:r>
          </a:p>
          <a:p>
            <a:endParaRPr lang="en-US" i="1" dirty="0"/>
          </a:p>
          <a:p>
            <a:endParaRPr lang="en-US" i="1" dirty="0" smtClean="0"/>
          </a:p>
          <a:p>
            <a:r>
              <a:rPr lang="en-US" dirty="0" smtClean="0"/>
              <a:t>For          , we get          </a:t>
            </a:r>
          </a:p>
          <a:p>
            <a:pPr lvl="1"/>
            <a:r>
              <a:rPr lang="en-US" dirty="0" smtClean="0"/>
              <a:t>Implied perfect scalability!</a:t>
            </a:r>
          </a:p>
          <a:p>
            <a:pPr lvl="1"/>
            <a:r>
              <a:rPr lang="en-US" dirty="0" smtClean="0"/>
              <a:t>And no CPU cycles are wasted!</a:t>
            </a:r>
          </a:p>
          <a:p>
            <a:pPr lvl="1"/>
            <a:r>
              <a:rPr lang="en-US" dirty="0" smtClean="0"/>
              <a:t>Is that true?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2900" y="2443865"/>
            <a:ext cx="3365500" cy="8255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9179" y="3538876"/>
            <a:ext cx="774700" cy="3429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4600" y="3526176"/>
            <a:ext cx="787400" cy="3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12681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146088" cy="4525963"/>
          </a:xfrm>
        </p:spPr>
        <p:txBody>
          <a:bodyPr/>
          <a:lstStyle/>
          <a:p>
            <a:r>
              <a:rPr lang="en-US" dirty="0" smtClean="0"/>
              <a:t>Some application has flops only in the parallel region</a:t>
            </a:r>
          </a:p>
          <a:p>
            <a:r>
              <a:rPr lang="en-US" dirty="0"/>
              <a:t>s</a:t>
            </a:r>
            <a:r>
              <a:rPr lang="en-US" dirty="0" smtClean="0"/>
              <a:t>: 0.9 and p: 0.1</a:t>
            </a:r>
          </a:p>
          <a:p>
            <a:r>
              <a:rPr lang="en-US" dirty="0" smtClean="0"/>
              <a:t>4 CPUs spend 90% idle!</a:t>
            </a:r>
            <a:endParaRPr lang="en-US" dirty="0" smtClean="0"/>
          </a:p>
          <a:p>
            <a:r>
              <a:rPr lang="en-US" dirty="0" smtClean="0"/>
              <a:t>MFLOPs rate a factor of N higher than serial case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288" y="3190943"/>
            <a:ext cx="2273120" cy="2746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46976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Serial performance and strong scalability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874637" cy="4525963"/>
          </a:xfrm>
        </p:spPr>
        <p:txBody>
          <a:bodyPr/>
          <a:lstStyle/>
          <a:p>
            <a:r>
              <a:rPr lang="en-US" dirty="0" smtClean="0"/>
              <a:t>Ran the same code on 2 different architectures</a:t>
            </a:r>
          </a:p>
          <a:p>
            <a:r>
              <a:rPr lang="en-US" dirty="0" smtClean="0"/>
              <a:t>Single thread performance is the same</a:t>
            </a:r>
          </a:p>
          <a:p>
            <a:r>
              <a:rPr lang="en-US" dirty="0" smtClean="0"/>
              <a:t>Serial fraction `s’ much smaller on arch2 due to greater memory bandwidth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1837" y="2766764"/>
            <a:ext cx="3512753" cy="2535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96832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Serial performance and strong scalability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Scalar optimizations (studied earlier) should be done in serial or parallel parts?</a:t>
            </a:r>
          </a:p>
          <a:p>
            <a:r>
              <a:rPr lang="en-US" dirty="0" smtClean="0"/>
              <a:t>Assuming serial part can be accelerated by                           parallel performance becomes:</a:t>
            </a:r>
          </a:p>
          <a:p>
            <a:endParaRPr lang="en-US" dirty="0"/>
          </a:p>
          <a:p>
            <a:r>
              <a:rPr lang="en-US" dirty="0" smtClean="0"/>
              <a:t>In case parallel part is improved parallel performance becomes: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2900" y="2781300"/>
            <a:ext cx="723900" cy="4318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2066" y="3607968"/>
            <a:ext cx="2006600" cy="9271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5562600"/>
            <a:ext cx="1955800" cy="92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96119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Serial performance and strong scalability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When does optimizing the serial part pays off more than optimizing the parallel part: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Does not depend on </a:t>
            </a:r>
          </a:p>
          <a:p>
            <a:r>
              <a:rPr lang="en-US" dirty="0" smtClean="0"/>
              <a:t>If         , it pays off to optimize parallel region as serial optimization would be beneficial after a very large value of N. 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3900" y="2908300"/>
            <a:ext cx="5143500" cy="10414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2600" y="3949700"/>
            <a:ext cx="279400" cy="3556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638" y="4576550"/>
            <a:ext cx="673100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79728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Are these simple models enough?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Amdahl’s law for strong scaling</a:t>
            </a:r>
          </a:p>
          <a:p>
            <a:r>
              <a:rPr lang="en-US" dirty="0" smtClean="0"/>
              <a:t>Gustafson’s law for weak scaling</a:t>
            </a:r>
          </a:p>
          <a:p>
            <a:r>
              <a:rPr lang="en-US" dirty="0" smtClean="0"/>
              <a:t>Problems with these models?</a:t>
            </a:r>
          </a:p>
          <a:p>
            <a:pPr lvl="1"/>
            <a:r>
              <a:rPr lang="en-US" dirty="0" smtClean="0"/>
              <a:t>Communication</a:t>
            </a:r>
          </a:p>
          <a:p>
            <a:pPr lvl="1"/>
            <a:r>
              <a:rPr lang="en-US" dirty="0" smtClean="0"/>
              <a:t>More memory (affects both strong and weak scaling?)</a:t>
            </a:r>
          </a:p>
          <a:p>
            <a:pPr lvl="1"/>
            <a:r>
              <a:rPr lang="en-US" dirty="0" smtClean="0"/>
              <a:t>More cache </a:t>
            </a:r>
            <a:r>
              <a:rPr lang="en-US" dirty="0" smtClean="0"/>
              <a:t>(affects both strong and weak scaling?)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35317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Accounting communication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Where do we account for communication?</a:t>
            </a:r>
          </a:p>
          <a:p>
            <a:pPr lvl="1"/>
            <a:r>
              <a:rPr lang="en-US" dirty="0" smtClean="0"/>
              <a:t>Do we increase the work done?</a:t>
            </a:r>
          </a:p>
          <a:p>
            <a:pPr lvl="1"/>
            <a:r>
              <a:rPr lang="en-US" dirty="0" smtClean="0"/>
              <a:t>Do we increase the execution time?</a:t>
            </a:r>
          </a:p>
          <a:p>
            <a:r>
              <a:rPr lang="en-US" dirty="0" smtClean="0"/>
              <a:t>It should affect the parallel execution time only as it doesn’t affect the work done (its not ‘useful’ work)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8486" y="5019441"/>
            <a:ext cx="2788914" cy="39646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176826" y="5019441"/>
            <a:ext cx="690574" cy="396463"/>
          </a:xfrm>
          <a:prstGeom prst="rect">
            <a:avLst/>
          </a:prstGeom>
          <a:solidFill>
            <a:srgbClr val="008000">
              <a:alpha val="21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93360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Weak scaling: Speedup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Speedup reduces due to communication: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What is         ? </a:t>
            </a:r>
          </a:p>
          <a:p>
            <a:pPr lvl="1"/>
            <a:r>
              <a:rPr lang="en-US" dirty="0" smtClean="0"/>
              <a:t>It depends on the type of network</a:t>
            </a:r>
          </a:p>
          <a:p>
            <a:pPr lvl="2"/>
            <a:r>
              <a:rPr lang="en-US" dirty="0" smtClean="0"/>
              <a:t>Blocking </a:t>
            </a:r>
          </a:p>
          <a:p>
            <a:pPr lvl="2"/>
            <a:r>
              <a:rPr lang="en-US" dirty="0" smtClean="0"/>
              <a:t>Non blocking</a:t>
            </a:r>
          </a:p>
          <a:p>
            <a:pPr lvl="1"/>
            <a:r>
              <a:rPr lang="en-US" dirty="0" smtClean="0"/>
              <a:t>Depends on    (latency) and             (time taken to transmit depending on number of bytes ‘n’ and bandwidth ‘B’ 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0352" y="2451100"/>
            <a:ext cx="4254500" cy="6477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6108" y="3190198"/>
            <a:ext cx="673100" cy="3429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9647" y="4902360"/>
            <a:ext cx="203200" cy="2286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1012" y="4875854"/>
            <a:ext cx="876300" cy="2413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887312" y="2793735"/>
            <a:ext cx="690574" cy="396463"/>
          </a:xfrm>
          <a:prstGeom prst="rect">
            <a:avLst/>
          </a:prstGeom>
          <a:solidFill>
            <a:srgbClr val="008000">
              <a:alpha val="21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1417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327" y="274638"/>
            <a:ext cx="8229600" cy="1506302"/>
          </a:xfrm>
        </p:spPr>
        <p:txBody>
          <a:bodyPr>
            <a:normAutofit/>
          </a:bodyPr>
          <a:lstStyle/>
          <a:p>
            <a:r>
              <a:rPr lang="en-US" dirty="0"/>
              <a:t>E</a:t>
            </a:r>
            <a:r>
              <a:rPr lang="en-US" dirty="0" smtClean="0"/>
              <a:t>ffects of communication on Speedup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Blocking network: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/>
              <a:t> </a:t>
            </a:r>
            <a:r>
              <a:rPr lang="en-US" dirty="0" smtClean="0"/>
              <a:t>                         </a:t>
            </a:r>
            <a:r>
              <a:rPr lang="en-US" dirty="0"/>
              <a:t> </a:t>
            </a:r>
            <a:r>
              <a:rPr lang="en-US" dirty="0" smtClean="0"/>
              <a:t>is dependent of N since network is blocking and one </a:t>
            </a:r>
            <a:r>
              <a:rPr lang="en-US" dirty="0" err="1" smtClean="0"/>
              <a:t>proc</a:t>
            </a:r>
            <a:r>
              <a:rPr lang="en-US" dirty="0" smtClean="0"/>
              <a:t> can send </a:t>
            </a:r>
            <a:r>
              <a:rPr lang="en-US" dirty="0" err="1" smtClean="0"/>
              <a:t>msg</a:t>
            </a:r>
            <a:r>
              <a:rPr lang="en-US" dirty="0" smtClean="0"/>
              <a:t> at a time.</a:t>
            </a:r>
          </a:p>
          <a:p>
            <a:r>
              <a:rPr lang="en-US" dirty="0" smtClean="0"/>
              <a:t>Speedup goes -&gt; 0 for large N due to communication bottleneck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7861" y="1086792"/>
            <a:ext cx="1129741" cy="52721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2700" y="2286000"/>
            <a:ext cx="4038600" cy="7620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148" y="3542783"/>
            <a:ext cx="1045411" cy="2921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77763" y="3528976"/>
            <a:ext cx="1168401" cy="353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3711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non-Blocking network, constant size message: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/>
              <a:t> </a:t>
            </a:r>
            <a:r>
              <a:rPr lang="en-US" dirty="0" smtClean="0"/>
              <a:t>                       </a:t>
            </a:r>
            <a:r>
              <a:rPr lang="en-US" dirty="0"/>
              <a:t> </a:t>
            </a:r>
            <a:r>
              <a:rPr lang="en-US" dirty="0" smtClean="0"/>
              <a:t>is independent of N since network is </a:t>
            </a:r>
            <a:r>
              <a:rPr lang="en-US" dirty="0" err="1" smtClean="0"/>
              <a:t>nonblocking</a:t>
            </a:r>
            <a:r>
              <a:rPr lang="en-US" dirty="0" smtClean="0"/>
              <a:t> and </a:t>
            </a:r>
            <a:r>
              <a:rPr lang="en-US" dirty="0" err="1" smtClean="0"/>
              <a:t>procs</a:t>
            </a:r>
            <a:r>
              <a:rPr lang="en-US" dirty="0" smtClean="0"/>
              <a:t> can send </a:t>
            </a:r>
            <a:r>
              <a:rPr lang="en-US" dirty="0" err="1" smtClean="0"/>
              <a:t>msg</a:t>
            </a:r>
            <a:r>
              <a:rPr lang="en-US" dirty="0" smtClean="0"/>
              <a:t> at the same time.</a:t>
            </a:r>
          </a:p>
          <a:p>
            <a:r>
              <a:rPr lang="en-US" dirty="0" smtClean="0"/>
              <a:t>Speedup settles to a lower value than what it was without incorporating communication</a:t>
            </a:r>
          </a:p>
          <a:p>
            <a:r>
              <a:rPr lang="en-US" dirty="0" smtClean="0"/>
              <a:t>Better than blocking case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0500" y="2336800"/>
            <a:ext cx="3670300" cy="7239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085" y="3170628"/>
            <a:ext cx="2107710" cy="375101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5327" y="274638"/>
            <a:ext cx="8229600" cy="1506302"/>
          </a:xfrm>
        </p:spPr>
        <p:txBody>
          <a:bodyPr>
            <a:normAutofit/>
          </a:bodyPr>
          <a:lstStyle/>
          <a:p>
            <a:r>
              <a:rPr lang="en-US" dirty="0"/>
              <a:t>E</a:t>
            </a:r>
            <a:r>
              <a:rPr lang="en-US" dirty="0" smtClean="0"/>
              <a:t>ffects of communication on Speedup</a:t>
            </a:r>
            <a:endParaRPr lang="en-US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7861" y="1086792"/>
            <a:ext cx="1129741" cy="527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8170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non-Blocking network with ghost layer communication: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/>
              <a:t> </a:t>
            </a:r>
            <a:r>
              <a:rPr lang="en-US" dirty="0" smtClean="0"/>
              <a:t>                       </a:t>
            </a:r>
            <a:r>
              <a:rPr lang="en-US" dirty="0"/>
              <a:t> </a:t>
            </a:r>
            <a:r>
              <a:rPr lang="en-US" dirty="0" smtClean="0"/>
              <a:t>is inversely dependent on N. Why?</a:t>
            </a:r>
          </a:p>
          <a:p>
            <a:r>
              <a:rPr lang="en-US" dirty="0" smtClean="0"/>
              <a:t>Speedup settles to a lower value than what it was without incorporating communication</a:t>
            </a:r>
          </a:p>
          <a:p>
            <a:r>
              <a:rPr lang="en-US" dirty="0" smtClean="0"/>
              <a:t>Better than non-blocking constant comm. cost.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5900" y="2529001"/>
            <a:ext cx="3632200" cy="7112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955" y="3795864"/>
            <a:ext cx="2079702" cy="378128"/>
          </a:xfrm>
          <a:prstGeom prst="rect">
            <a:avLst/>
          </a:prstGeom>
        </p:spPr>
      </p:pic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95327" y="274638"/>
            <a:ext cx="8229600" cy="1506302"/>
          </a:xfrm>
        </p:spPr>
        <p:txBody>
          <a:bodyPr>
            <a:normAutofit/>
          </a:bodyPr>
          <a:lstStyle/>
          <a:p>
            <a:r>
              <a:rPr lang="en-US" dirty="0"/>
              <a:t>E</a:t>
            </a:r>
            <a:r>
              <a:rPr lang="en-US" dirty="0" smtClean="0"/>
              <a:t>ffects of communication on Speedup</a:t>
            </a:r>
            <a:endParaRPr lang="en-US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7861" y="1086792"/>
            <a:ext cx="1129741" cy="527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6791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non-Blocking network with ghost layer communication,         :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/>
              <a:t> </a:t>
            </a:r>
            <a:r>
              <a:rPr lang="en-US" dirty="0" smtClean="0"/>
              <a:t>                    </a:t>
            </a:r>
            <a:r>
              <a:rPr lang="en-US" dirty="0"/>
              <a:t> </a:t>
            </a:r>
            <a:r>
              <a:rPr lang="en-US" dirty="0" smtClean="0"/>
              <a:t>is independent of N (constant) since the problem size also grows linearly with N</a:t>
            </a:r>
            <a:endParaRPr lang="en-US" dirty="0" smtClean="0"/>
          </a:p>
          <a:p>
            <a:r>
              <a:rPr lang="en-US" dirty="0" smtClean="0"/>
              <a:t>Speedup is linear as this is weak scaling</a:t>
            </a:r>
          </a:p>
          <a:p>
            <a:r>
              <a:rPr lang="en-US" dirty="0" smtClean="0"/>
              <a:t>But less than what it was w/o communication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2400" y="2559684"/>
            <a:ext cx="3746500" cy="6477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416" y="3810785"/>
            <a:ext cx="1670984" cy="365089"/>
          </a:xfrm>
          <a:prstGeom prst="rect">
            <a:avLst/>
          </a:prstGeom>
        </p:spPr>
      </p:pic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95327" y="274638"/>
            <a:ext cx="8229600" cy="1506302"/>
          </a:xfrm>
        </p:spPr>
        <p:txBody>
          <a:bodyPr>
            <a:normAutofit/>
          </a:bodyPr>
          <a:lstStyle/>
          <a:p>
            <a:r>
              <a:rPr lang="en-US" dirty="0"/>
              <a:t>E</a:t>
            </a:r>
            <a:r>
              <a:rPr lang="en-US" dirty="0" smtClean="0"/>
              <a:t>ffects of communication on Speedup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9894" y="1102055"/>
            <a:ext cx="1069006" cy="58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5653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Predicted Scalability for different models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6323" y="1600200"/>
            <a:ext cx="4153626" cy="4525963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Speedup for:</a:t>
            </a:r>
          </a:p>
          <a:p>
            <a:pPr lvl="1"/>
            <a:r>
              <a:rPr lang="en-US" dirty="0" smtClean="0"/>
              <a:t>Weak scaling keeps on increasing linearly</a:t>
            </a:r>
          </a:p>
          <a:p>
            <a:pPr lvl="1"/>
            <a:r>
              <a:rPr lang="en-US" dirty="0" smtClean="0"/>
              <a:t>Strong scaling is projectile and hits zero for large N</a:t>
            </a:r>
          </a:p>
          <a:p>
            <a:pPr lvl="1"/>
            <a:r>
              <a:rPr lang="en-US" dirty="0" smtClean="0"/>
              <a:t>Other models lie in between </a:t>
            </a:r>
          </a:p>
          <a:p>
            <a:pPr lvl="1"/>
            <a:r>
              <a:rPr lang="en-US" dirty="0" smtClean="0"/>
              <a:t>All strong scaling models less than Amdahl’s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2841" y="2413096"/>
            <a:ext cx="4889800" cy="3302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33361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Scaling baseline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How do we normalize the results for determining speedup?</a:t>
            </a:r>
          </a:p>
          <a:p>
            <a:r>
              <a:rPr lang="en-US" dirty="0" smtClean="0"/>
              <a:t>Speedup using model slide 30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9120" y="3416079"/>
            <a:ext cx="4042810" cy="3027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49901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Scaling baseline (main figure)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831442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The main figure shows higher serial part: 0.2 with no effect from communication k: 0</a:t>
            </a:r>
          </a:p>
          <a:p>
            <a:r>
              <a:rPr lang="en-US" dirty="0" smtClean="0"/>
              <a:t>The actual points are way from the prediction (for small core count)</a:t>
            </a:r>
            <a:endParaRPr lang="en-US" dirty="0" smtClean="0"/>
          </a:p>
          <a:p>
            <a:r>
              <a:rPr lang="en-US" dirty="0" smtClean="0"/>
              <a:t>Main figure is normalized using single core performance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8424" y="3962247"/>
            <a:ext cx="3729669" cy="2793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01300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Right smaller figure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Change baseline from per core to per node</a:t>
            </a:r>
          </a:p>
          <a:p>
            <a:r>
              <a:rPr lang="en-US" dirty="0" smtClean="0"/>
              <a:t>Almost a perfect fit!</a:t>
            </a:r>
          </a:p>
          <a:p>
            <a:r>
              <a:rPr lang="en-US" dirty="0" smtClean="0"/>
              <a:t>Serial fraction s:0.01, </a:t>
            </a:r>
            <a:r>
              <a:rPr lang="en-US" dirty="0" err="1" smtClean="0"/>
              <a:t>comm</a:t>
            </a:r>
            <a:r>
              <a:rPr lang="en-US" dirty="0" smtClean="0"/>
              <a:t> k=0.05</a:t>
            </a:r>
          </a:p>
          <a:p>
            <a:r>
              <a:rPr lang="en-US" dirty="0" smtClean="0"/>
              <a:t>Much more dependence on </a:t>
            </a:r>
            <a:r>
              <a:rPr lang="en-US" dirty="0" err="1" smtClean="0"/>
              <a:t>comm</a:t>
            </a:r>
            <a:r>
              <a:rPr lang="en-US" dirty="0"/>
              <a:t>!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7865" y="3989066"/>
            <a:ext cx="3484481" cy="2679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61046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Left smaller figure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Changes baseline to per core but only shows </a:t>
            </a:r>
            <a:r>
              <a:rPr lang="en-US" dirty="0" err="1" smtClean="0"/>
              <a:t>whats</a:t>
            </a:r>
            <a:r>
              <a:rPr lang="en-US" dirty="0" smtClean="0"/>
              <a:t> going on inside a node</a:t>
            </a:r>
          </a:p>
          <a:p>
            <a:r>
              <a:rPr lang="en-US" dirty="0" smtClean="0"/>
              <a:t>Bad speedup moving from 1core-&gt;2core (due to use of same socket)</a:t>
            </a:r>
          </a:p>
          <a:p>
            <a:r>
              <a:rPr lang="en-US" dirty="0" smtClean="0"/>
              <a:t>Sudden jump in speedup from 2-4 cores (an additional socket)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8338" y="4401040"/>
            <a:ext cx="3231229" cy="2178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3494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Scaling baseline takeaway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endParaRPr lang="en-US" dirty="0" smtClean="0"/>
          </a:p>
          <a:p>
            <a:pPr marL="0" indent="0" algn="ctr">
              <a:buNone/>
            </a:pPr>
            <a:r>
              <a:rPr lang="en-US" dirty="0" smtClean="0"/>
              <a:t>Scaling behavior for inter and intra node cases should be studied </a:t>
            </a:r>
            <a:r>
              <a:rPr lang="en-US" dirty="0" err="1" smtClean="0"/>
              <a:t>seperately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94714370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Load imbalance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What is load imbalance?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2297690"/>
            <a:ext cx="7861300" cy="4140200"/>
          </a:xfrm>
          <a:prstGeom prst="rect">
            <a:avLst/>
          </a:prstGeom>
        </p:spPr>
      </p:pic>
      <p:cxnSp>
        <p:nvCxnSpPr>
          <p:cNvPr id="7" name="Straight Arrow Connector 6"/>
          <p:cNvCxnSpPr/>
          <p:nvPr/>
        </p:nvCxnSpPr>
        <p:spPr>
          <a:xfrm flipH="1">
            <a:off x="6101753" y="2153695"/>
            <a:ext cx="883511" cy="1698106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612532" y="1822357"/>
            <a:ext cx="10077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Speeder</a:t>
            </a:r>
            <a:endParaRPr lang="en-US" dirty="0"/>
          </a:p>
        </p:txBody>
      </p:sp>
      <p:cxnSp>
        <p:nvCxnSpPr>
          <p:cNvPr id="10" name="Straight Arrow Connector 9"/>
          <p:cNvCxnSpPr/>
          <p:nvPr/>
        </p:nvCxnSpPr>
        <p:spPr>
          <a:xfrm flipH="1" flipV="1">
            <a:off x="3741120" y="3437629"/>
            <a:ext cx="621766" cy="188255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990153" y="5320181"/>
            <a:ext cx="10077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Lagger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038560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Load imbalance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Both speeder and </a:t>
            </a:r>
            <a:r>
              <a:rPr lang="en-US" dirty="0" err="1" smtClean="0"/>
              <a:t>laggers</a:t>
            </a:r>
            <a:r>
              <a:rPr lang="en-US" dirty="0" smtClean="0"/>
              <a:t> are bad.</a:t>
            </a:r>
          </a:p>
          <a:p>
            <a:r>
              <a:rPr lang="en-US" dirty="0" smtClean="0"/>
              <a:t>Which one is worse?</a:t>
            </a:r>
          </a:p>
          <a:p>
            <a:pPr lvl="1"/>
            <a:r>
              <a:rPr lang="en-US" dirty="0" smtClean="0"/>
              <a:t>A few </a:t>
            </a:r>
            <a:r>
              <a:rPr lang="en-US" dirty="0" err="1" smtClean="0"/>
              <a:t>laggers</a:t>
            </a:r>
            <a:r>
              <a:rPr lang="en-US" dirty="0" smtClean="0"/>
              <a:t> (majority speeders)</a:t>
            </a:r>
          </a:p>
          <a:p>
            <a:pPr lvl="1"/>
            <a:r>
              <a:rPr lang="en-US" dirty="0" smtClean="0"/>
              <a:t>A few speeders (majority </a:t>
            </a:r>
            <a:r>
              <a:rPr lang="en-US" dirty="0" err="1" smtClean="0"/>
              <a:t>laggers</a:t>
            </a:r>
            <a:r>
              <a:rPr lang="en-US" dirty="0" smtClean="0"/>
              <a:t>)</a:t>
            </a:r>
          </a:p>
          <a:p>
            <a:r>
              <a:rPr lang="en-US" dirty="0" smtClean="0"/>
              <a:t>How much time is spent idle?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18713538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Reasons for load imbalance (1)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u="none" strike="noStrike" baseline="0" dirty="0" smtClean="0"/>
              <a:t>The method chosen for distributing work among the workers may not be compatible</a:t>
            </a:r>
            <a:r>
              <a:rPr lang="en-US" b="0" i="0" u="none" strike="noStrike" dirty="0" smtClean="0"/>
              <a:t> </a:t>
            </a:r>
            <a:r>
              <a:rPr lang="en-US" b="0" i="0" u="none" strike="noStrike" baseline="0" dirty="0" smtClean="0"/>
              <a:t>with the structure of the problem</a:t>
            </a:r>
          </a:p>
          <a:p>
            <a:r>
              <a:rPr lang="en-US" dirty="0" smtClean="0"/>
              <a:t>JDS sparse matrix-vector multiply</a:t>
            </a:r>
          </a:p>
          <a:p>
            <a:pPr lvl="1"/>
            <a:r>
              <a:rPr lang="en-US" dirty="0" smtClean="0"/>
              <a:t>Allocate equal number of row to all </a:t>
            </a:r>
            <a:r>
              <a:rPr lang="en-US" dirty="0" err="1" smtClean="0"/>
              <a:t>procs</a:t>
            </a:r>
            <a:endParaRPr lang="en-US" dirty="0" smtClean="0"/>
          </a:p>
          <a:p>
            <a:pPr lvl="2"/>
            <a:r>
              <a:rPr lang="en-US" dirty="0" smtClean="0"/>
              <a:t>Some rows might have significantly more non-zeros compared to others</a:t>
            </a:r>
          </a:p>
        </p:txBody>
      </p:sp>
    </p:spTree>
    <p:extLst>
      <p:ext uri="{BB962C8B-B14F-4D97-AF65-F5344CB8AC3E}">
        <p14:creationId xmlns:p14="http://schemas.microsoft.com/office/powerpoint/2010/main" val="157891901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Reasons for load imbalance (2)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</a:t>
            </a:r>
            <a:r>
              <a:rPr lang="en-US" b="0" i="0" u="none" strike="noStrike" baseline="0" dirty="0" smtClean="0"/>
              <a:t>t may not</a:t>
            </a:r>
            <a:r>
              <a:rPr lang="en-US" b="0" i="0" u="none" strike="noStrike" dirty="0" smtClean="0"/>
              <a:t> </a:t>
            </a:r>
            <a:r>
              <a:rPr lang="en-US" b="0" i="0" u="none" strike="noStrike" baseline="0" dirty="0" smtClean="0"/>
              <a:t>be known at compile time how much time a “chunk” of work actually takes</a:t>
            </a:r>
            <a:endParaRPr lang="en-US" dirty="0"/>
          </a:p>
          <a:p>
            <a:r>
              <a:rPr lang="en-US" dirty="0" smtClean="0"/>
              <a:t>Applications having the concept of convergence. Each chunk needs to execute until it converges. You can’t determine the number of instructions to convergence before hand (mostly)</a:t>
            </a:r>
            <a:endParaRPr lang="en-US" b="0" i="0" u="none" strike="noStrike" baseline="0" dirty="0" smtClean="0"/>
          </a:p>
        </p:txBody>
      </p:sp>
    </p:spTree>
    <p:extLst>
      <p:ext uri="{BB962C8B-B14F-4D97-AF65-F5344CB8AC3E}">
        <p14:creationId xmlns:p14="http://schemas.microsoft.com/office/powerpoint/2010/main" val="43959045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Reasons for load imbalance (3)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u="none" strike="noStrike" baseline="0" dirty="0" smtClean="0"/>
              <a:t>There may be a coarse granularity to the problem, limiting the available parallelism.</a:t>
            </a:r>
            <a:endParaRPr lang="en-US" dirty="0"/>
          </a:p>
          <a:p>
            <a:r>
              <a:rPr lang="en-US" b="0" i="0" u="none" strike="noStrike" baseline="0" dirty="0" smtClean="0"/>
              <a:t>This happens usually when the number of workers is not significantly</a:t>
            </a:r>
            <a:r>
              <a:rPr lang="en-US" b="0" i="0" u="none" strike="noStrike" dirty="0" smtClean="0"/>
              <a:t> </a:t>
            </a:r>
            <a:r>
              <a:rPr lang="en-US" b="0" i="0" u="none" strike="noStrike" baseline="0" dirty="0" smtClean="0"/>
              <a:t>smaller than the number of work packages.</a:t>
            </a:r>
          </a:p>
          <a:p>
            <a:pPr lvl="1"/>
            <a:r>
              <a:rPr lang="en-US" dirty="0" smtClean="0"/>
              <a:t>Imagine having 10000 tasks with 6000 processors</a:t>
            </a:r>
            <a:endParaRPr lang="en-US" b="0" i="0" u="none" strike="noStrike" baseline="0" dirty="0" smtClean="0"/>
          </a:p>
        </p:txBody>
      </p:sp>
    </p:spTree>
    <p:extLst>
      <p:ext uri="{BB962C8B-B14F-4D97-AF65-F5344CB8AC3E}">
        <p14:creationId xmlns:p14="http://schemas.microsoft.com/office/powerpoint/2010/main" val="134851169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Reasons for load imbalance (4)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u="none" strike="noStrike" baseline="0" dirty="0" smtClean="0"/>
              <a:t>If a worker has to wait for</a:t>
            </a:r>
            <a:r>
              <a:rPr lang="en-US" b="0" i="0" u="none" strike="noStrike" dirty="0" smtClean="0"/>
              <a:t> </a:t>
            </a:r>
            <a:r>
              <a:rPr lang="en-US" b="0" i="0" u="none" strike="noStrike" baseline="0" dirty="0" smtClean="0"/>
              <a:t>resources like, e.g., I/O or communication devices.</a:t>
            </a:r>
          </a:p>
          <a:p>
            <a:r>
              <a:rPr lang="en-US" b="0" i="0" u="none" strike="noStrike" baseline="0" dirty="0" smtClean="0"/>
              <a:t>overhead of this kind is often statistical in nature,</a:t>
            </a:r>
            <a:r>
              <a:rPr lang="en-US" b="0" i="0" u="none" strike="noStrike" dirty="0" smtClean="0"/>
              <a:t> </a:t>
            </a:r>
            <a:r>
              <a:rPr lang="en-US" b="0" i="0" u="none" strike="noStrike" baseline="0" dirty="0" smtClean="0"/>
              <a:t>causing erratic load imbalance behavior</a:t>
            </a:r>
          </a:p>
          <a:p>
            <a:r>
              <a:rPr lang="en-US" dirty="0" smtClean="0"/>
              <a:t>How can we remedy such problems?</a:t>
            </a:r>
          </a:p>
          <a:p>
            <a:r>
              <a:rPr lang="en-US" b="0" i="0" u="none" strike="noStrike" baseline="0" dirty="0" smtClean="0"/>
              <a:t>For communication we can try</a:t>
            </a:r>
            <a:r>
              <a:rPr lang="en-US" b="0" i="0" u="none" strike="noStrike" dirty="0" smtClean="0"/>
              <a:t> and overlap communication and computation</a:t>
            </a:r>
            <a:endParaRPr lang="en-US" b="0" i="0" u="none" strike="noStrike" baseline="0" dirty="0" smtClean="0"/>
          </a:p>
        </p:txBody>
      </p:sp>
    </p:spTree>
    <p:extLst>
      <p:ext uri="{BB962C8B-B14F-4D97-AF65-F5344CB8AC3E}">
        <p14:creationId xmlns:p14="http://schemas.microsoft.com/office/powerpoint/2010/main" val="48046789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Reasons for load imbalance (5)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Dynamically changing workload</a:t>
            </a:r>
          </a:p>
          <a:p>
            <a:pPr lvl="1"/>
            <a:r>
              <a:rPr lang="en-US" dirty="0" smtClean="0"/>
              <a:t>Adaptive Mesh Refinement, Molecular dynamics</a:t>
            </a:r>
          </a:p>
          <a:p>
            <a:pPr lvl="2"/>
            <a:r>
              <a:rPr lang="en-US" dirty="0" smtClean="0"/>
              <a:t>Workload might be balanced to start with but can change gradually over time</a:t>
            </a:r>
          </a:p>
          <a:p>
            <a:r>
              <a:rPr lang="en-US" dirty="0" smtClean="0"/>
              <a:t>Adapting to such dynamic workload is not easy for MPI programmers</a:t>
            </a:r>
          </a:p>
        </p:txBody>
      </p:sp>
    </p:spTree>
    <p:extLst>
      <p:ext uri="{BB962C8B-B14F-4D97-AF65-F5344CB8AC3E}">
        <p14:creationId xmlns:p14="http://schemas.microsoft.com/office/powerpoint/2010/main" val="216841308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Charm++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Based on object based over-decomposition</a:t>
            </a:r>
          </a:p>
          <a:p>
            <a:r>
              <a:rPr lang="en-US" dirty="0" smtClean="0"/>
              <a:t>Programmer can think in terms of objects instead of processors.</a:t>
            </a:r>
          </a:p>
          <a:p>
            <a:r>
              <a:rPr lang="en-US" dirty="0" smtClean="0"/>
              <a:t>Offers automatic:</a:t>
            </a:r>
          </a:p>
          <a:p>
            <a:pPr lvl="1"/>
            <a:r>
              <a:rPr lang="en-US" dirty="0" smtClean="0"/>
              <a:t>dynamic load balancing</a:t>
            </a:r>
          </a:p>
          <a:p>
            <a:pPr lvl="1"/>
            <a:r>
              <a:rPr lang="en-US" dirty="0" smtClean="0"/>
              <a:t>Fault tolerance </a:t>
            </a:r>
          </a:p>
          <a:p>
            <a:pPr lvl="1"/>
            <a:r>
              <a:rPr lang="en-US" dirty="0" smtClean="0"/>
              <a:t>Energy/Power efficient HPC applications</a:t>
            </a:r>
          </a:p>
          <a:p>
            <a:r>
              <a:rPr lang="en-US" dirty="0" smtClean="0"/>
              <a:t>More to come in later lectures</a:t>
            </a:r>
          </a:p>
        </p:txBody>
      </p:sp>
    </p:spTree>
    <p:extLst>
      <p:ext uri="{BB962C8B-B14F-4D97-AF65-F5344CB8AC3E}">
        <p14:creationId xmlns:p14="http://schemas.microsoft.com/office/powerpoint/2010/main" val="246167627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OS Jitter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Interference from OS </a:t>
            </a:r>
          </a:p>
          <a:p>
            <a:r>
              <a:rPr lang="en-US" dirty="0" smtClean="0"/>
              <a:t>Causes load imbalance</a:t>
            </a:r>
          </a:p>
          <a:p>
            <a:r>
              <a:rPr lang="en-US" dirty="0" smtClean="0"/>
              <a:t>Statistical in nature e.g. 1 out of 4 four processors will get OS interference in 1 sec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6200" y="4279492"/>
            <a:ext cx="6438900" cy="113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78844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OS Jitter on larger machines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OS jitter much more harmful in larger machines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365" y="2799322"/>
            <a:ext cx="7316803" cy="3326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87184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OS Jitter synchronization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Synchronize processors so that OS jitters happen roughly at the same time for all processors</a:t>
            </a:r>
          </a:p>
          <a:p>
            <a:r>
              <a:rPr lang="en-US" dirty="0" smtClean="0"/>
              <a:t>Difficult to do (requires significant OS hacking)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9218" y="3922881"/>
            <a:ext cx="4749134" cy="2764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5802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3372</TotalTime>
  <Words>1724</Words>
  <Application>Microsoft Macintosh PowerPoint</Application>
  <PresentationFormat>On-screen Show (4:3)</PresentationFormat>
  <Paragraphs>272</Paragraphs>
  <Slides>50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1" baseType="lpstr">
      <vt:lpstr>Office Theme</vt:lpstr>
      <vt:lpstr>Parallel Scalability </vt:lpstr>
      <vt:lpstr>How faster can we run?</vt:lpstr>
      <vt:lpstr>Running in parallel</vt:lpstr>
      <vt:lpstr>Load imbalance </vt:lpstr>
      <vt:lpstr>Dependence amongst tasks</vt:lpstr>
      <vt:lpstr>Scalability </vt:lpstr>
      <vt:lpstr>Scalability </vt:lpstr>
      <vt:lpstr>Scaling </vt:lpstr>
      <vt:lpstr>Strong Scaling</vt:lpstr>
      <vt:lpstr>Weak Scaling</vt:lpstr>
      <vt:lpstr>Performance: Strong Scaling</vt:lpstr>
      <vt:lpstr>Example: Strong Scaling</vt:lpstr>
      <vt:lpstr>Strong Scaling changing “work”</vt:lpstr>
      <vt:lpstr>Example: Strong Scaling</vt:lpstr>
      <vt:lpstr>Performance: Weak Scaling</vt:lpstr>
      <vt:lpstr>Gustafson’s law</vt:lpstr>
      <vt:lpstr>Gustafson’s law</vt:lpstr>
      <vt:lpstr>Weak Scaling changing “work”</vt:lpstr>
      <vt:lpstr>Scalability: Weak Scaling </vt:lpstr>
      <vt:lpstr>Parallel Efficiency </vt:lpstr>
      <vt:lpstr>Effect of </vt:lpstr>
      <vt:lpstr>Changing “work”</vt:lpstr>
      <vt:lpstr>Example</vt:lpstr>
      <vt:lpstr>Serial performance and strong scalability</vt:lpstr>
      <vt:lpstr>Serial performance and strong scalability</vt:lpstr>
      <vt:lpstr>Serial performance and strong scalability</vt:lpstr>
      <vt:lpstr>Are these simple models enough?</vt:lpstr>
      <vt:lpstr>Accounting communication </vt:lpstr>
      <vt:lpstr>Weak scaling: Speedup</vt:lpstr>
      <vt:lpstr>Effects of communication on Speedup</vt:lpstr>
      <vt:lpstr>Effects of communication on Speedup</vt:lpstr>
      <vt:lpstr>Effects of communication on Speedup</vt:lpstr>
      <vt:lpstr>Effects of communication on Speedup</vt:lpstr>
      <vt:lpstr>Predicted Scalability for different models</vt:lpstr>
      <vt:lpstr>Scaling baseline</vt:lpstr>
      <vt:lpstr>Scaling baseline (main figure)</vt:lpstr>
      <vt:lpstr>Right smaller figure</vt:lpstr>
      <vt:lpstr>Left smaller figure</vt:lpstr>
      <vt:lpstr>Scaling baseline takeaway</vt:lpstr>
      <vt:lpstr>Load imbalance</vt:lpstr>
      <vt:lpstr>Load imbalance</vt:lpstr>
      <vt:lpstr>Reasons for load imbalance (1)</vt:lpstr>
      <vt:lpstr>Reasons for load imbalance (2)</vt:lpstr>
      <vt:lpstr>Reasons for load imbalance (3)</vt:lpstr>
      <vt:lpstr>Reasons for load imbalance (4)</vt:lpstr>
      <vt:lpstr>Reasons for load imbalance (5) </vt:lpstr>
      <vt:lpstr>Charm++</vt:lpstr>
      <vt:lpstr>OS Jitter</vt:lpstr>
      <vt:lpstr>OS Jitter on larger machines</vt:lpstr>
      <vt:lpstr>OS Jitter synchronization</vt:lpstr>
    </vt:vector>
  </TitlesOfParts>
  <Company>UIUC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Parallel Scalability </dc:title>
  <dc:creator>OS</dc:creator>
  <cp:lastModifiedBy>OS</cp:lastModifiedBy>
  <cp:revision>328</cp:revision>
  <dcterms:created xsi:type="dcterms:W3CDTF">2012-10-23T18:30:05Z</dcterms:created>
  <dcterms:modified xsi:type="dcterms:W3CDTF">2012-10-26T02:42:52Z</dcterms:modified>
</cp:coreProperties>
</file>